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98480" y="457200"/>
            <a:ext cx="502920" cy="502920"/>
          </a:xfrm>
          <a:prstGeom prst="hexagon">
            <a:avLst/>
          </a:prstGeom>
          <a:solidFill>
            <a:srgbClr val="E3B23C">
              <a:alpha val="8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292840" y="1051560"/>
            <a:ext cx="365760" cy="365760"/>
          </a:xfrm>
          <a:prstGeom prst="hexagon">
            <a:avLst/>
          </a:prstGeom>
          <a:solidFill>
            <a:srgbClr val="88A47C">
              <a:alpha val="8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332720" y="1234440"/>
            <a:ext cx="292608" cy="292608"/>
          </a:xfrm>
          <a:prstGeom prst="hexagon">
            <a:avLst/>
          </a:prstGeom>
          <a:solidFill>
            <a:srgbClr val="3A6351">
              <a:alpha val="8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5669280"/>
            <a:ext cx="548640" cy="548640"/>
          </a:xfrm>
          <a:prstGeom prst="hexagon">
            <a:avLst/>
          </a:prstGeom>
          <a:solidFill>
            <a:srgbClr val="88A47C">
              <a:alpha val="8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005840" y="6172200"/>
            <a:ext cx="329184" cy="329184"/>
          </a:xfrm>
          <a:prstGeom prst="hexagon">
            <a:avLst/>
          </a:prstGeom>
          <a:solidFill>
            <a:srgbClr val="E3B23C">
              <a:alpha val="8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417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CSA0313  ·  DATA STRUCTURE  ·  SLOT 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182880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Tree Traversal Challenge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822960" y="301752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FE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CO3_AT3 — Five tree-traversal problems generated with interactive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FE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visualizers and auto-generation tools, solved and verified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" y="4160520"/>
            <a:ext cx="5029200" cy="1600200"/>
          </a:xfrm>
          <a:prstGeom prst="roundRect">
            <a:avLst>
              <a:gd name="adj" fmla="val 6857"/>
            </a:avLst>
          </a:prstGeom>
          <a:solidFill>
            <a:srgbClr val="3A6351">
              <a:alpha val="28000"/>
            </a:srgbClr>
          </a:solidFill>
          <a:ln w="12700">
            <a:solidFill>
              <a:srgbClr val="88A47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4343400"/>
            <a:ext cx="4572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CFE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by:  </a:t>
            </a:r>
            <a:pPr indent="0" marL="0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Nivedhitha G (192521231)
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CFE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Faculty:  </a:t>
            </a:r>
            <a:pPr indent="0" marL="0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Shakila M
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CFE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Due:  </a:t>
            </a:r>
            <a:pPr indent="0" marL="0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 10, 2026  |  100 points
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4757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assignment asks for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342900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CE6DE"/>
            </a:solidFill>
            <a:prstDash val="solid"/>
          </a:ln>
          <a:effectLst>
            <a:outerShdw sx="100000" sy="100000" kx="0" ky="0" algn="bl" rotWithShape="0" blurRad="101600" dist="38100" dir="5400000">
              <a:srgbClr val="A9BFB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1920240"/>
            <a:ext cx="548640" cy="548640"/>
          </a:xfrm>
          <a:prstGeom prst="roundRect">
            <a:avLst>
              <a:gd name="adj" fmla="val 28000"/>
            </a:avLst>
          </a:prstGeom>
          <a:solidFill>
            <a:srgbClr val="3A6351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0120" y="260604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tools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60120" y="3200400"/>
            <a:ext cx="2788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E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Locate interactive visualizers and auto-generation tools that produce tree-traversal practice problems.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89120" y="1600200"/>
            <a:ext cx="342900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CE6DE"/>
            </a:solidFill>
            <a:prstDash val="solid"/>
          </a:ln>
          <a:effectLst>
            <a:outerShdw sx="100000" sy="100000" kx="0" ky="0" algn="bl" rotWithShape="0" blurRad="101600" dist="38100" dir="5400000">
              <a:srgbClr val="A9BFB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920240"/>
            <a:ext cx="548640" cy="548640"/>
          </a:xfrm>
          <a:prstGeom prst="roundRect">
            <a:avLst>
              <a:gd name="adj" fmla="val 28000"/>
            </a:avLst>
          </a:prstGeom>
          <a:solidFill>
            <a:srgbClr val="88A47C"/>
          </a:solidFill>
          <a:ln/>
        </p:spPr>
      </p:sp>
      <p:sp>
        <p:nvSpPr>
          <p:cNvPr id="11" name="Text 9"/>
          <p:cNvSpPr/>
          <p:nvPr/>
        </p:nvSpPr>
        <p:spPr>
          <a:xfrm>
            <a:off x="4709160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709160" y="260604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challenges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709160" y="3200400"/>
            <a:ext cx="2788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E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those tools (or build trees by hand) to create a set of original traversal problems.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38160" y="1600200"/>
            <a:ext cx="342900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CE6DE"/>
            </a:solidFill>
            <a:prstDash val="solid"/>
          </a:ln>
          <a:effectLst>
            <a:outerShdw sx="100000" sy="100000" kx="0" ky="0" algn="bl" rotWithShape="0" blurRad="101600" dist="38100" dir="5400000">
              <a:srgbClr val="A9BFB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58200" y="1920240"/>
            <a:ext cx="548640" cy="548640"/>
          </a:xfrm>
          <a:prstGeom prst="roundRect">
            <a:avLst>
              <a:gd name="adj" fmla="val 28000"/>
            </a:avLst>
          </a:prstGeom>
          <a:solidFill>
            <a:srgbClr val="E3B23C"/>
          </a:solidFill>
          <a:ln/>
        </p:spPr>
      </p:sp>
      <p:sp>
        <p:nvSpPr>
          <p:cNvPr id="16" name="Text 14"/>
          <p:cNvSpPr/>
          <p:nvPr/>
        </p:nvSpPr>
        <p:spPr>
          <a:xfrm>
            <a:off x="8458200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458200" y="260604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 &amp; present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458200" y="3200400"/>
            <a:ext cx="2788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E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out Preorder, Inorder, Postorder and Level-order for each tree, and present it all as a PPT.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4709160"/>
            <a:ext cx="10881360" cy="1005840"/>
          </a:xfrm>
          <a:prstGeom prst="roundRect">
            <a:avLst>
              <a:gd name="adj" fmla="val 9091"/>
            </a:avLst>
          </a:prstGeom>
          <a:solidFill>
            <a:srgbClr val="1B2E27"/>
          </a:solidFill>
          <a:ln/>
        </p:spPr>
      </p:sp>
      <p:sp>
        <p:nvSpPr>
          <p:cNvPr id="20" name="Text 18"/>
          <p:cNvSpPr/>
          <p:nvPr/>
        </p:nvSpPr>
        <p:spPr>
          <a:xfrm>
            <a:off x="960120" y="4709160"/>
            <a:ext cx="10241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deck presents five original trees of increasing difficulty, each solved for all four traversal orders and checked against a program.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4757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Used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visualizers for tracing paths, auto-generators for fresh problems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3A63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VISUALIZERS — TRAVERSAL PATHS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1088136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DCE6D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039112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3A6351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039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63040" y="194767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VisuAlgo — Binary Search Tree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463040" y="2221992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E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custom trees, choose Pre/In/Post/Level-order, watch an animated highlight step through nodes.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40080" y="2770632"/>
            <a:ext cx="1088136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DCE6D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2935224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3A6351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9352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463040" y="2843784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Tree Visualizer and Converter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463040" y="311810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E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an array or node list to instantly see the drawn tree and its calculated traversal outputs.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40080" y="3666744"/>
            <a:ext cx="1088136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DCE6D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" y="3831336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3A6351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38313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463040" y="3739896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 Visualizations (USFCA)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463040" y="4014216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E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nodes one by one and manually trace traversal execution steps.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40080" y="4700016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AUTO-GENERATION TOOLS — UNLIMITED PRACTICE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" y="5065776"/>
            <a:ext cx="1088136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DCE6D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2960" y="5230368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E3B23C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5230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463040" y="513892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LeetCode Tree Visualizer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463040" y="5413248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E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a LeetCode-serialized tree string (e.g. [1,null,2,3]) to get a clean visual layout for sketching paths.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40080" y="5961888"/>
            <a:ext cx="1088136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DCE6D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22960" y="6126480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E3B23C"/>
          </a:solidFill>
          <a:ln/>
        </p:spPr>
      </p:sp>
      <p:sp>
        <p:nvSpPr>
          <p:cNvPr id="28" name="Text 26"/>
          <p:cNvSpPr/>
          <p:nvPr/>
        </p:nvSpPr>
        <p:spPr>
          <a:xfrm>
            <a:off x="822960" y="6126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463040" y="60350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Labs (IIT Hyderabad)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463040" y="6309360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E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Government-supported interactive lab that quizzes you by clicking nodes in the correct traversal sequence.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114757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 1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0607040" y="502920"/>
            <a:ext cx="914400" cy="384048"/>
          </a:xfrm>
          <a:prstGeom prst="roundRect">
            <a:avLst>
              <a:gd name="adj" fmla="val 50000"/>
            </a:avLst>
          </a:prstGeom>
          <a:solidFill>
            <a:srgbClr val="3A6351"/>
          </a:solidFill>
          <a:ln/>
        </p:spPr>
      </p:sp>
      <p:sp>
        <p:nvSpPr>
          <p:cNvPr id="4" name="Text 2"/>
          <p:cNvSpPr/>
          <p:nvPr/>
        </p:nvSpPr>
        <p:spPr>
          <a:xfrm>
            <a:off x="10607040" y="50292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E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perfect binary tree — every level is completely filled.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508760"/>
            <a:ext cx="5486400" cy="4114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CE6D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82696" y="2048256"/>
            <a:ext cx="-1005840" cy="777240"/>
          </a:xfrm>
          <a:prstGeom prst="line">
            <a:avLst/>
          </a:prstGeom>
          <a:noFill/>
          <a:ln w="25400">
            <a:solidFill>
              <a:srgbClr val="DCE6D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82696" y="2048256"/>
            <a:ext cx="1005840" cy="777240"/>
          </a:xfrm>
          <a:prstGeom prst="line">
            <a:avLst/>
          </a:prstGeom>
          <a:noFill/>
          <a:ln w="25400">
            <a:solidFill>
              <a:srgbClr val="DCE6D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76856" y="2825496"/>
            <a:ext cx="-548640" cy="777240"/>
          </a:xfrm>
          <a:prstGeom prst="line">
            <a:avLst/>
          </a:prstGeom>
          <a:noFill/>
          <a:ln w="25400">
            <a:solidFill>
              <a:srgbClr val="DCE6D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76856" y="2825496"/>
            <a:ext cx="548640" cy="777240"/>
          </a:xfrm>
          <a:prstGeom prst="line">
            <a:avLst/>
          </a:prstGeom>
          <a:noFill/>
          <a:ln w="25400">
            <a:solidFill>
              <a:srgbClr val="DCE6D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88536" y="2825496"/>
            <a:ext cx="-457200" cy="777240"/>
          </a:xfrm>
          <a:prstGeom prst="line">
            <a:avLst/>
          </a:prstGeom>
          <a:noFill/>
          <a:ln w="25400">
            <a:solidFill>
              <a:srgbClr val="DCE6D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88536" y="2825496"/>
            <a:ext cx="640080" cy="777240"/>
          </a:xfrm>
          <a:prstGeom prst="line">
            <a:avLst/>
          </a:prstGeom>
          <a:noFill/>
          <a:ln w="25400">
            <a:solidFill>
              <a:srgbClr val="DCE6D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108960" y="1874520"/>
            <a:ext cx="347472" cy="347472"/>
          </a:xfrm>
          <a:prstGeom prst="ellipse">
            <a:avLst/>
          </a:prstGeom>
          <a:solidFill>
            <a:srgbClr val="3A635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08960" y="18745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103120" y="2651760"/>
            <a:ext cx="347472" cy="347472"/>
          </a:xfrm>
          <a:prstGeom prst="ellipse">
            <a:avLst/>
          </a:prstGeom>
          <a:solidFill>
            <a:srgbClr val="3A635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103120" y="26517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114800" y="2651760"/>
            <a:ext cx="347472" cy="347472"/>
          </a:xfrm>
          <a:prstGeom prst="ellipse">
            <a:avLst/>
          </a:prstGeom>
          <a:solidFill>
            <a:srgbClr val="3A635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0" y="26517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1554480" y="3429000"/>
            <a:ext cx="347472" cy="347472"/>
          </a:xfrm>
          <a:prstGeom prst="ellipse">
            <a:avLst/>
          </a:prstGeom>
          <a:solidFill>
            <a:srgbClr val="3A635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554480" y="34290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651760" y="3429000"/>
            <a:ext cx="347472" cy="347472"/>
          </a:xfrm>
          <a:prstGeom prst="ellipse">
            <a:avLst/>
          </a:prstGeom>
          <a:solidFill>
            <a:srgbClr val="3A635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34290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657600" y="3429000"/>
            <a:ext cx="347472" cy="347472"/>
          </a:xfrm>
          <a:prstGeom prst="ellipse">
            <a:avLst/>
          </a:prstGeom>
          <a:solidFill>
            <a:srgbClr val="3A635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0" y="34290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754880" y="3429000"/>
            <a:ext cx="347472" cy="347472"/>
          </a:xfrm>
          <a:prstGeom prst="ellipse">
            <a:avLst/>
          </a:prstGeom>
          <a:solidFill>
            <a:srgbClr val="3A635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34290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68680" y="52578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E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nodes · answers on the Answer Key slide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355080" y="1508760"/>
            <a:ext cx="5166360" cy="4114800"/>
          </a:xfrm>
          <a:prstGeom prst="roundRect">
            <a:avLst>
              <a:gd name="adj" fmla="val 2000"/>
            </a:avLst>
          </a:prstGeom>
          <a:solidFill>
            <a:srgbClr val="1B2E27"/>
          </a:solidFill>
          <a:ln/>
        </p:spPr>
      </p:sp>
      <p:sp>
        <p:nvSpPr>
          <p:cNvPr id="29" name="Text 27"/>
          <p:cNvSpPr/>
          <p:nvPr/>
        </p:nvSpPr>
        <p:spPr>
          <a:xfrm>
            <a:off x="6675120" y="173736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the: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6675120" y="2286000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88A47C"/>
          </a:solidFill>
          <a:ln/>
        </p:spPr>
      </p:sp>
      <p:sp>
        <p:nvSpPr>
          <p:cNvPr id="31" name="Text 29"/>
          <p:cNvSpPr/>
          <p:nvPr/>
        </p:nvSpPr>
        <p:spPr>
          <a:xfrm>
            <a:off x="6675120" y="2286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223760" y="233172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Preorder Traversal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6675120" y="2944368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88A47C"/>
          </a:solidFill>
          <a:ln/>
        </p:spPr>
      </p:sp>
      <p:sp>
        <p:nvSpPr>
          <p:cNvPr id="34" name="Text 32"/>
          <p:cNvSpPr/>
          <p:nvPr/>
        </p:nvSpPr>
        <p:spPr>
          <a:xfrm>
            <a:off x="6675120" y="2944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7223760" y="299008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Inorder Traversal</a:t>
            </a:r>
            <a:endParaRPr lang="en-US" sz="1350" dirty="0"/>
          </a:p>
        </p:txBody>
      </p:sp>
      <p:sp>
        <p:nvSpPr>
          <p:cNvPr id="36" name="Shape 34"/>
          <p:cNvSpPr/>
          <p:nvPr/>
        </p:nvSpPr>
        <p:spPr>
          <a:xfrm>
            <a:off x="6675120" y="3602736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88A47C"/>
          </a:solidFill>
          <a:ln/>
        </p:spPr>
      </p:sp>
      <p:sp>
        <p:nvSpPr>
          <p:cNvPr id="37" name="Text 35"/>
          <p:cNvSpPr/>
          <p:nvPr/>
        </p:nvSpPr>
        <p:spPr>
          <a:xfrm>
            <a:off x="6675120" y="36027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7223760" y="3648456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Postorder Traversal</a:t>
            </a:r>
            <a:endParaRPr lang="en-US" sz="1350" dirty="0"/>
          </a:p>
        </p:txBody>
      </p:sp>
      <p:sp>
        <p:nvSpPr>
          <p:cNvPr id="39" name="Shape 37"/>
          <p:cNvSpPr/>
          <p:nvPr/>
        </p:nvSpPr>
        <p:spPr>
          <a:xfrm>
            <a:off x="6675120" y="4261104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88A47C"/>
          </a:solidFill>
          <a:ln/>
        </p:spPr>
      </p:sp>
      <p:sp>
        <p:nvSpPr>
          <p:cNvPr id="40" name="Text 38"/>
          <p:cNvSpPr/>
          <p:nvPr/>
        </p:nvSpPr>
        <p:spPr>
          <a:xfrm>
            <a:off x="6675120" y="42611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7223760" y="4306824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Level-order Traversal</a:t>
            </a:r>
            <a:endParaRPr lang="en-US" sz="1350" dirty="0"/>
          </a:p>
        </p:txBody>
      </p:sp>
      <p:sp>
        <p:nvSpPr>
          <p:cNvPr id="42" name="Text 40"/>
          <p:cNvSpPr/>
          <p:nvPr/>
        </p:nvSpPr>
        <p:spPr>
          <a:xfrm>
            <a:off x="114757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 2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0607040" y="502920"/>
            <a:ext cx="914400" cy="384048"/>
          </a:xfrm>
          <a:prstGeom prst="roundRect">
            <a:avLst>
              <a:gd name="adj" fmla="val 50000"/>
            </a:avLst>
          </a:prstGeom>
          <a:solidFill>
            <a:srgbClr val="E3B23C"/>
          </a:solidFill>
          <a:ln/>
        </p:spPr>
      </p:sp>
      <p:sp>
        <p:nvSpPr>
          <p:cNvPr id="4" name="Text 2"/>
          <p:cNvSpPr/>
          <p:nvPr/>
        </p:nvSpPr>
        <p:spPr>
          <a:xfrm>
            <a:off x="10607040" y="50292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E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unbalanced tree with missing children on several nodes.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508760"/>
            <a:ext cx="5486400" cy="4114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CE6D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968496" y="2048256"/>
            <a:ext cx="-2011680" cy="777240"/>
          </a:xfrm>
          <a:prstGeom prst="line">
            <a:avLst/>
          </a:prstGeom>
          <a:noFill/>
          <a:ln w="25400">
            <a:solidFill>
              <a:srgbClr val="DCE6D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968496" y="2048256"/>
            <a:ext cx="502920" cy="777240"/>
          </a:xfrm>
          <a:prstGeom prst="line">
            <a:avLst/>
          </a:prstGeom>
          <a:noFill/>
          <a:ln w="25400">
            <a:solidFill>
              <a:srgbClr val="DCE6D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56816" y="2825496"/>
            <a:ext cx="-502920" cy="777240"/>
          </a:xfrm>
          <a:prstGeom prst="line">
            <a:avLst/>
          </a:prstGeom>
          <a:noFill/>
          <a:ln w="25400">
            <a:solidFill>
              <a:srgbClr val="DCE6D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956816" y="2825496"/>
            <a:ext cx="1005840" cy="777240"/>
          </a:xfrm>
          <a:prstGeom prst="line">
            <a:avLst/>
          </a:prstGeom>
          <a:noFill/>
          <a:ln w="25400">
            <a:solidFill>
              <a:srgbClr val="DCE6D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62656" y="3602736"/>
            <a:ext cx="-502920" cy="777240"/>
          </a:xfrm>
          <a:prstGeom prst="line">
            <a:avLst/>
          </a:prstGeom>
          <a:noFill/>
          <a:ln w="25400">
            <a:solidFill>
              <a:srgbClr val="DCE6D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62656" y="3602736"/>
            <a:ext cx="502920" cy="777240"/>
          </a:xfrm>
          <a:prstGeom prst="line">
            <a:avLst/>
          </a:prstGeom>
          <a:noFill/>
          <a:ln w="25400">
            <a:solidFill>
              <a:srgbClr val="DCE6D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71416" y="2825496"/>
            <a:ext cx="1005840" cy="777240"/>
          </a:xfrm>
          <a:prstGeom prst="line">
            <a:avLst/>
          </a:prstGeom>
          <a:noFill/>
          <a:ln w="25400">
            <a:solidFill>
              <a:srgbClr val="DCE6D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77256" y="3602736"/>
            <a:ext cx="-502920" cy="777240"/>
          </a:xfrm>
          <a:prstGeom prst="line">
            <a:avLst/>
          </a:prstGeom>
          <a:noFill/>
          <a:ln w="25400">
            <a:solidFill>
              <a:srgbClr val="DCE6D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80160" y="3429000"/>
            <a:ext cx="347472" cy="347472"/>
          </a:xfrm>
          <a:prstGeom prst="ellipse">
            <a:avLst/>
          </a:prstGeom>
          <a:solidFill>
            <a:srgbClr val="E3B2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80160" y="34290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783080" y="2651760"/>
            <a:ext cx="347472" cy="347472"/>
          </a:xfrm>
          <a:prstGeom prst="ellipse">
            <a:avLst/>
          </a:prstGeom>
          <a:solidFill>
            <a:srgbClr val="E3B2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783080" y="26517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286000" y="4206240"/>
            <a:ext cx="347472" cy="347472"/>
          </a:xfrm>
          <a:prstGeom prst="ellipse">
            <a:avLst/>
          </a:prstGeom>
          <a:solidFill>
            <a:srgbClr val="E3B2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286000" y="42062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788920" y="3429000"/>
            <a:ext cx="347472" cy="347472"/>
          </a:xfrm>
          <a:prstGeom prst="ellipse">
            <a:avLst/>
          </a:prstGeom>
          <a:solidFill>
            <a:srgbClr val="E3B2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88920" y="34290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291840" y="4206240"/>
            <a:ext cx="347472" cy="347472"/>
          </a:xfrm>
          <a:prstGeom prst="ellipse">
            <a:avLst/>
          </a:prstGeom>
          <a:solidFill>
            <a:srgbClr val="E3B2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91840" y="42062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794760" y="1874520"/>
            <a:ext cx="347472" cy="347472"/>
          </a:xfrm>
          <a:prstGeom prst="ellipse">
            <a:avLst/>
          </a:prstGeom>
          <a:solidFill>
            <a:srgbClr val="E3B2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794760" y="18745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297680" y="2651760"/>
            <a:ext cx="347472" cy="347472"/>
          </a:xfrm>
          <a:prstGeom prst="ellipse">
            <a:avLst/>
          </a:prstGeom>
          <a:solidFill>
            <a:srgbClr val="E3B2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297680" y="26517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800600" y="4206240"/>
            <a:ext cx="347472" cy="347472"/>
          </a:xfrm>
          <a:prstGeom prst="ellipse">
            <a:avLst/>
          </a:prstGeom>
          <a:solidFill>
            <a:srgbClr val="E3B2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00600" y="42062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303520" y="3429000"/>
            <a:ext cx="347472" cy="347472"/>
          </a:xfrm>
          <a:prstGeom prst="ellipse">
            <a:avLst/>
          </a:prstGeom>
          <a:solidFill>
            <a:srgbClr val="E3B2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03520" y="34290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68680" y="52578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E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nodes · answers on the Answer Key slide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355080" y="1508760"/>
            <a:ext cx="5166360" cy="4114800"/>
          </a:xfrm>
          <a:prstGeom prst="roundRect">
            <a:avLst>
              <a:gd name="adj" fmla="val 2000"/>
            </a:avLst>
          </a:prstGeom>
          <a:solidFill>
            <a:srgbClr val="1B2E27"/>
          </a:solidFill>
          <a:ln/>
        </p:spPr>
      </p:sp>
      <p:sp>
        <p:nvSpPr>
          <p:cNvPr id="35" name="Text 33"/>
          <p:cNvSpPr/>
          <p:nvPr/>
        </p:nvSpPr>
        <p:spPr>
          <a:xfrm>
            <a:off x="6675120" y="173736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the: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6675120" y="2286000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88A47C"/>
          </a:solidFill>
          <a:ln/>
        </p:spPr>
      </p:sp>
      <p:sp>
        <p:nvSpPr>
          <p:cNvPr id="37" name="Text 35"/>
          <p:cNvSpPr/>
          <p:nvPr/>
        </p:nvSpPr>
        <p:spPr>
          <a:xfrm>
            <a:off x="6675120" y="2286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7223760" y="233172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Preorder Traversal</a:t>
            </a:r>
            <a:endParaRPr lang="en-US" sz="1350" dirty="0"/>
          </a:p>
        </p:txBody>
      </p:sp>
      <p:sp>
        <p:nvSpPr>
          <p:cNvPr id="39" name="Shape 37"/>
          <p:cNvSpPr/>
          <p:nvPr/>
        </p:nvSpPr>
        <p:spPr>
          <a:xfrm>
            <a:off x="6675120" y="2944368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88A47C"/>
          </a:solidFill>
          <a:ln/>
        </p:spPr>
      </p:sp>
      <p:sp>
        <p:nvSpPr>
          <p:cNvPr id="40" name="Text 38"/>
          <p:cNvSpPr/>
          <p:nvPr/>
        </p:nvSpPr>
        <p:spPr>
          <a:xfrm>
            <a:off x="6675120" y="2944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7223760" y="299008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Inorder Traversal</a:t>
            </a:r>
            <a:endParaRPr lang="en-US" sz="1350" dirty="0"/>
          </a:p>
        </p:txBody>
      </p:sp>
      <p:sp>
        <p:nvSpPr>
          <p:cNvPr id="42" name="Shape 40"/>
          <p:cNvSpPr/>
          <p:nvPr/>
        </p:nvSpPr>
        <p:spPr>
          <a:xfrm>
            <a:off x="6675120" y="3602736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88A47C"/>
          </a:solidFill>
          <a:ln/>
        </p:spPr>
      </p:sp>
      <p:sp>
        <p:nvSpPr>
          <p:cNvPr id="43" name="Text 41"/>
          <p:cNvSpPr/>
          <p:nvPr/>
        </p:nvSpPr>
        <p:spPr>
          <a:xfrm>
            <a:off x="6675120" y="36027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7223760" y="3648456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Postorder Traversal</a:t>
            </a:r>
            <a:endParaRPr lang="en-US" sz="1350" dirty="0"/>
          </a:p>
        </p:txBody>
      </p:sp>
      <p:sp>
        <p:nvSpPr>
          <p:cNvPr id="45" name="Shape 43"/>
          <p:cNvSpPr/>
          <p:nvPr/>
        </p:nvSpPr>
        <p:spPr>
          <a:xfrm>
            <a:off x="6675120" y="4261104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88A47C"/>
          </a:solidFill>
          <a:ln/>
        </p:spPr>
      </p:sp>
      <p:sp>
        <p:nvSpPr>
          <p:cNvPr id="46" name="Text 44"/>
          <p:cNvSpPr/>
          <p:nvPr/>
        </p:nvSpPr>
        <p:spPr>
          <a:xfrm>
            <a:off x="6675120" y="42611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7223760" y="4306824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Level-order Traversal</a:t>
            </a:r>
            <a:endParaRPr lang="en-US" sz="1350" dirty="0"/>
          </a:p>
        </p:txBody>
      </p:sp>
      <p:sp>
        <p:nvSpPr>
          <p:cNvPr id="48" name="Text 46"/>
          <p:cNvSpPr/>
          <p:nvPr/>
        </p:nvSpPr>
        <p:spPr>
          <a:xfrm>
            <a:off x="114757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 3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0607040" y="502920"/>
            <a:ext cx="914400" cy="384048"/>
          </a:xfrm>
          <a:prstGeom prst="roundRect">
            <a:avLst>
              <a:gd name="adj" fmla="val 50000"/>
            </a:avLst>
          </a:prstGeom>
          <a:solidFill>
            <a:srgbClr val="B5482A"/>
          </a:solidFill>
          <a:ln/>
        </p:spPr>
      </p:sp>
      <p:sp>
        <p:nvSpPr>
          <p:cNvPr id="4" name="Text 2"/>
          <p:cNvSpPr/>
          <p:nvPr/>
        </p:nvSpPr>
        <p:spPr>
          <a:xfrm>
            <a:off x="10607040" y="50292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E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deep, lopsided BST — watch the left-heavy branch under 7.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508760"/>
            <a:ext cx="5486400" cy="4114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CE6D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05656" y="2048256"/>
            <a:ext cx="-1828800" cy="731520"/>
          </a:xfrm>
          <a:prstGeom prst="line">
            <a:avLst/>
          </a:prstGeom>
          <a:noFill/>
          <a:ln w="25400">
            <a:solidFill>
              <a:srgbClr val="DCE6D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05656" y="2048256"/>
            <a:ext cx="457200" cy="731520"/>
          </a:xfrm>
          <a:prstGeom prst="line">
            <a:avLst/>
          </a:prstGeom>
          <a:noFill/>
          <a:ln w="25400">
            <a:solidFill>
              <a:srgbClr val="DCE6D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76856" y="2779776"/>
            <a:ext cx="-457200" cy="731520"/>
          </a:xfrm>
          <a:prstGeom prst="line">
            <a:avLst/>
          </a:prstGeom>
          <a:noFill/>
          <a:ln w="25400">
            <a:solidFill>
              <a:srgbClr val="DCE6D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76856" y="2779776"/>
            <a:ext cx="914400" cy="731520"/>
          </a:xfrm>
          <a:prstGeom prst="line">
            <a:avLst/>
          </a:prstGeom>
          <a:noFill/>
          <a:ln w="25400">
            <a:solidFill>
              <a:srgbClr val="DCE6D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819656" y="3511296"/>
            <a:ext cx="-457200" cy="731520"/>
          </a:xfrm>
          <a:prstGeom prst="line">
            <a:avLst/>
          </a:prstGeom>
          <a:noFill/>
          <a:ln w="25400">
            <a:solidFill>
              <a:srgbClr val="DCE6D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191256" y="3511296"/>
            <a:ext cx="-457200" cy="731520"/>
          </a:xfrm>
          <a:prstGeom prst="line">
            <a:avLst/>
          </a:prstGeom>
          <a:noFill/>
          <a:ln w="25400">
            <a:solidFill>
              <a:srgbClr val="DCE6D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191256" y="3511296"/>
            <a:ext cx="457200" cy="731520"/>
          </a:xfrm>
          <a:prstGeom prst="line">
            <a:avLst/>
          </a:prstGeom>
          <a:noFill/>
          <a:ln w="25400">
            <a:solidFill>
              <a:srgbClr val="DCE6D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62856" y="2779776"/>
            <a:ext cx="914400" cy="731520"/>
          </a:xfrm>
          <a:prstGeom prst="line">
            <a:avLst/>
          </a:prstGeom>
          <a:noFill/>
          <a:ln w="25400">
            <a:solidFill>
              <a:srgbClr val="DCE6D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77256" y="3511296"/>
            <a:ext cx="-457200" cy="731520"/>
          </a:xfrm>
          <a:prstGeom prst="line">
            <a:avLst/>
          </a:prstGeom>
          <a:noFill/>
          <a:ln w="25400">
            <a:solidFill>
              <a:srgbClr val="DCE6D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88720" y="4069080"/>
            <a:ext cx="347472" cy="347472"/>
          </a:xfrm>
          <a:prstGeom prst="ellipse">
            <a:avLst/>
          </a:prstGeom>
          <a:solidFill>
            <a:srgbClr val="B5482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88720" y="40690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1645920" y="3337560"/>
            <a:ext cx="347472" cy="347472"/>
          </a:xfrm>
          <a:prstGeom prst="ellipse">
            <a:avLst/>
          </a:prstGeom>
          <a:solidFill>
            <a:srgbClr val="B5482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645920" y="33375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103120" y="2606040"/>
            <a:ext cx="347472" cy="347472"/>
          </a:xfrm>
          <a:prstGeom prst="ellipse">
            <a:avLst/>
          </a:prstGeom>
          <a:solidFill>
            <a:srgbClr val="B5482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103120" y="26060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560320" y="4069080"/>
            <a:ext cx="347472" cy="347472"/>
          </a:xfrm>
          <a:prstGeom prst="ellipse">
            <a:avLst/>
          </a:prstGeom>
          <a:solidFill>
            <a:srgbClr val="B5482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60320" y="40690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017520" y="3337560"/>
            <a:ext cx="347472" cy="347472"/>
          </a:xfrm>
          <a:prstGeom prst="ellipse">
            <a:avLst/>
          </a:prstGeom>
          <a:solidFill>
            <a:srgbClr val="B5482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017520" y="33375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474720" y="4069080"/>
            <a:ext cx="347472" cy="347472"/>
          </a:xfrm>
          <a:prstGeom prst="ellipse">
            <a:avLst/>
          </a:prstGeom>
          <a:solidFill>
            <a:srgbClr val="B5482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74720" y="40690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931920" y="1874520"/>
            <a:ext cx="347472" cy="347472"/>
          </a:xfrm>
          <a:prstGeom prst="ellipse">
            <a:avLst/>
          </a:prstGeom>
          <a:solidFill>
            <a:srgbClr val="B5482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931920" y="18745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389120" y="2606040"/>
            <a:ext cx="347472" cy="347472"/>
          </a:xfrm>
          <a:prstGeom prst="ellipse">
            <a:avLst/>
          </a:prstGeom>
          <a:solidFill>
            <a:srgbClr val="B5482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89120" y="26060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846320" y="4069080"/>
            <a:ext cx="347472" cy="347472"/>
          </a:xfrm>
          <a:prstGeom prst="ellipse">
            <a:avLst/>
          </a:prstGeom>
          <a:solidFill>
            <a:srgbClr val="B5482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46320" y="40690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303520" y="3337560"/>
            <a:ext cx="347472" cy="347472"/>
          </a:xfrm>
          <a:prstGeom prst="ellipse">
            <a:avLst/>
          </a:prstGeom>
          <a:solidFill>
            <a:srgbClr val="B5482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303520" y="33375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868680" y="52578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E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nodes · answers on the Answer Key slide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355080" y="1508760"/>
            <a:ext cx="5166360" cy="4114800"/>
          </a:xfrm>
          <a:prstGeom prst="roundRect">
            <a:avLst>
              <a:gd name="adj" fmla="val 2000"/>
            </a:avLst>
          </a:prstGeom>
          <a:solidFill>
            <a:srgbClr val="1B2E27"/>
          </a:solidFill>
          <a:ln/>
        </p:spPr>
      </p:sp>
      <p:sp>
        <p:nvSpPr>
          <p:cNvPr id="38" name="Text 36"/>
          <p:cNvSpPr/>
          <p:nvPr/>
        </p:nvSpPr>
        <p:spPr>
          <a:xfrm>
            <a:off x="6675120" y="173736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the: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6675120" y="2286000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88A47C"/>
          </a:solidFill>
          <a:ln/>
        </p:spPr>
      </p:sp>
      <p:sp>
        <p:nvSpPr>
          <p:cNvPr id="40" name="Text 38"/>
          <p:cNvSpPr/>
          <p:nvPr/>
        </p:nvSpPr>
        <p:spPr>
          <a:xfrm>
            <a:off x="6675120" y="2286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7223760" y="233172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Preorder Traversal</a:t>
            </a:r>
            <a:endParaRPr lang="en-US" sz="1350" dirty="0"/>
          </a:p>
        </p:txBody>
      </p:sp>
      <p:sp>
        <p:nvSpPr>
          <p:cNvPr id="42" name="Shape 40"/>
          <p:cNvSpPr/>
          <p:nvPr/>
        </p:nvSpPr>
        <p:spPr>
          <a:xfrm>
            <a:off x="6675120" y="2944368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88A47C"/>
          </a:solidFill>
          <a:ln/>
        </p:spPr>
      </p:sp>
      <p:sp>
        <p:nvSpPr>
          <p:cNvPr id="43" name="Text 41"/>
          <p:cNvSpPr/>
          <p:nvPr/>
        </p:nvSpPr>
        <p:spPr>
          <a:xfrm>
            <a:off x="6675120" y="2944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7223760" y="299008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Inorder Traversal</a:t>
            </a:r>
            <a:endParaRPr lang="en-US" sz="1350" dirty="0"/>
          </a:p>
        </p:txBody>
      </p:sp>
      <p:sp>
        <p:nvSpPr>
          <p:cNvPr id="45" name="Shape 43"/>
          <p:cNvSpPr/>
          <p:nvPr/>
        </p:nvSpPr>
        <p:spPr>
          <a:xfrm>
            <a:off x="6675120" y="3602736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88A47C"/>
          </a:solidFill>
          <a:ln/>
        </p:spPr>
      </p:sp>
      <p:sp>
        <p:nvSpPr>
          <p:cNvPr id="46" name="Text 44"/>
          <p:cNvSpPr/>
          <p:nvPr/>
        </p:nvSpPr>
        <p:spPr>
          <a:xfrm>
            <a:off x="6675120" y="36027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7223760" y="3648456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Postorder Traversal</a:t>
            </a:r>
            <a:endParaRPr lang="en-US" sz="1350" dirty="0"/>
          </a:p>
        </p:txBody>
      </p:sp>
      <p:sp>
        <p:nvSpPr>
          <p:cNvPr id="48" name="Shape 46"/>
          <p:cNvSpPr/>
          <p:nvPr/>
        </p:nvSpPr>
        <p:spPr>
          <a:xfrm>
            <a:off x="6675120" y="4261104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88A47C"/>
          </a:solidFill>
          <a:ln/>
        </p:spPr>
      </p:sp>
      <p:sp>
        <p:nvSpPr>
          <p:cNvPr id="49" name="Text 47"/>
          <p:cNvSpPr/>
          <p:nvPr/>
        </p:nvSpPr>
        <p:spPr>
          <a:xfrm>
            <a:off x="6675120" y="42611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7223760" y="4306824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Level-order Traversal</a:t>
            </a:r>
            <a:endParaRPr lang="en-US" sz="1350" dirty="0"/>
          </a:p>
        </p:txBody>
      </p:sp>
      <p:sp>
        <p:nvSpPr>
          <p:cNvPr id="51" name="Text 49"/>
          <p:cNvSpPr/>
          <p:nvPr/>
        </p:nvSpPr>
        <p:spPr>
          <a:xfrm>
            <a:off x="114757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 4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0607040" y="502920"/>
            <a:ext cx="914400" cy="384048"/>
          </a:xfrm>
          <a:prstGeom prst="roundRect">
            <a:avLst>
              <a:gd name="adj" fmla="val 50000"/>
            </a:avLst>
          </a:prstGeom>
          <a:solidFill>
            <a:srgbClr val="3A6351"/>
          </a:solidFill>
          <a:ln/>
        </p:spPr>
      </p:sp>
      <p:sp>
        <p:nvSpPr>
          <p:cNvPr id="4" name="Text 2"/>
          <p:cNvSpPr/>
          <p:nvPr/>
        </p:nvSpPr>
        <p:spPr>
          <a:xfrm>
            <a:off x="10607040" y="50292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E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Decoded from a LeetCode-style array: [1, 2, 3, null, 4, null, 5]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508760"/>
            <a:ext cx="5486400" cy="4114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CE6D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82696" y="2048256"/>
            <a:ext cx="-1005840" cy="822960"/>
          </a:xfrm>
          <a:prstGeom prst="line">
            <a:avLst/>
          </a:prstGeom>
          <a:noFill/>
          <a:ln w="25400">
            <a:solidFill>
              <a:srgbClr val="DCE6D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82696" y="2048256"/>
            <a:ext cx="1005840" cy="822960"/>
          </a:xfrm>
          <a:prstGeom prst="line">
            <a:avLst/>
          </a:prstGeom>
          <a:noFill/>
          <a:ln w="25400">
            <a:solidFill>
              <a:srgbClr val="DCE6D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76856" y="2871216"/>
            <a:ext cx="822960" cy="822960"/>
          </a:xfrm>
          <a:prstGeom prst="line">
            <a:avLst/>
          </a:prstGeom>
          <a:noFill/>
          <a:ln w="25400">
            <a:solidFill>
              <a:srgbClr val="DCE6D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88536" y="2871216"/>
            <a:ext cx="822960" cy="822960"/>
          </a:xfrm>
          <a:prstGeom prst="line">
            <a:avLst/>
          </a:prstGeom>
          <a:noFill/>
          <a:ln w="25400">
            <a:solidFill>
              <a:srgbClr val="DCE6D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08960" y="1874520"/>
            <a:ext cx="347472" cy="347472"/>
          </a:xfrm>
          <a:prstGeom prst="ellipse">
            <a:avLst/>
          </a:prstGeom>
          <a:solidFill>
            <a:srgbClr val="3A635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08960" y="18745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103120" y="2697480"/>
            <a:ext cx="347472" cy="347472"/>
          </a:xfrm>
          <a:prstGeom prst="ellipse">
            <a:avLst/>
          </a:prstGeom>
          <a:solidFill>
            <a:srgbClr val="3A635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03120" y="26974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114800" y="2697480"/>
            <a:ext cx="347472" cy="347472"/>
          </a:xfrm>
          <a:prstGeom prst="ellipse">
            <a:avLst/>
          </a:prstGeom>
          <a:solidFill>
            <a:srgbClr val="3A635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0" y="26974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926080" y="3520440"/>
            <a:ext cx="347472" cy="347472"/>
          </a:xfrm>
          <a:prstGeom prst="ellipse">
            <a:avLst/>
          </a:prstGeom>
          <a:solidFill>
            <a:srgbClr val="3A635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26080" y="35204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937760" y="3520440"/>
            <a:ext cx="347472" cy="347472"/>
          </a:xfrm>
          <a:prstGeom prst="ellipse">
            <a:avLst/>
          </a:prstGeom>
          <a:solidFill>
            <a:srgbClr val="3A635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0" y="35204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68680" y="52578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E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nodes · answers on the Answer Key slide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355080" y="1508760"/>
            <a:ext cx="5166360" cy="4114800"/>
          </a:xfrm>
          <a:prstGeom prst="roundRect">
            <a:avLst>
              <a:gd name="adj" fmla="val 2000"/>
            </a:avLst>
          </a:prstGeom>
          <a:solidFill>
            <a:srgbClr val="1B2E27"/>
          </a:solidFill>
          <a:ln/>
        </p:spPr>
      </p:sp>
      <p:sp>
        <p:nvSpPr>
          <p:cNvPr id="23" name="Text 21"/>
          <p:cNvSpPr/>
          <p:nvPr/>
        </p:nvSpPr>
        <p:spPr>
          <a:xfrm>
            <a:off x="6675120" y="173736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the: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675120" y="2286000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88A47C"/>
          </a:solidFill>
          <a:ln/>
        </p:spPr>
      </p:sp>
      <p:sp>
        <p:nvSpPr>
          <p:cNvPr id="25" name="Text 23"/>
          <p:cNvSpPr/>
          <p:nvPr/>
        </p:nvSpPr>
        <p:spPr>
          <a:xfrm>
            <a:off x="6675120" y="2286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223760" y="233172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Preorder Traversal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6675120" y="2944368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88A47C"/>
          </a:solidFill>
          <a:ln/>
        </p:spPr>
      </p:sp>
      <p:sp>
        <p:nvSpPr>
          <p:cNvPr id="28" name="Text 26"/>
          <p:cNvSpPr/>
          <p:nvPr/>
        </p:nvSpPr>
        <p:spPr>
          <a:xfrm>
            <a:off x="6675120" y="2944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223760" y="299008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Inorder Traversal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6675120" y="3602736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88A47C"/>
          </a:solidFill>
          <a:ln/>
        </p:spPr>
      </p:sp>
      <p:sp>
        <p:nvSpPr>
          <p:cNvPr id="31" name="Text 29"/>
          <p:cNvSpPr/>
          <p:nvPr/>
        </p:nvSpPr>
        <p:spPr>
          <a:xfrm>
            <a:off x="6675120" y="36027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223760" y="3648456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Postorder Traversal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6675120" y="4261104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88A47C"/>
          </a:solidFill>
          <a:ln/>
        </p:spPr>
      </p:sp>
      <p:sp>
        <p:nvSpPr>
          <p:cNvPr id="34" name="Text 32"/>
          <p:cNvSpPr/>
          <p:nvPr/>
        </p:nvSpPr>
        <p:spPr>
          <a:xfrm>
            <a:off x="6675120" y="42611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7223760" y="4306824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Level-order Traversal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114757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 5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0607040" y="502920"/>
            <a:ext cx="914400" cy="384048"/>
          </a:xfrm>
          <a:prstGeom prst="roundRect">
            <a:avLst>
              <a:gd name="adj" fmla="val 50000"/>
            </a:avLst>
          </a:prstGeom>
          <a:solidFill>
            <a:srgbClr val="E3B23C"/>
          </a:solidFill>
          <a:ln/>
        </p:spPr>
      </p:sp>
      <p:sp>
        <p:nvSpPr>
          <p:cNvPr id="4" name="Text 2"/>
          <p:cNvSpPr/>
          <p:nvPr/>
        </p:nvSpPr>
        <p:spPr>
          <a:xfrm>
            <a:off x="10607040" y="50292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E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auto-generated tree — practice clicking nodes in order, Virtual-Labs style.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508760"/>
            <a:ext cx="5486400" cy="4114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CE6D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557016" y="2048256"/>
            <a:ext cx="-1463040" cy="777240"/>
          </a:xfrm>
          <a:prstGeom prst="line">
            <a:avLst/>
          </a:prstGeom>
          <a:noFill/>
          <a:ln w="25400">
            <a:solidFill>
              <a:srgbClr val="DCE6D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557016" y="2048256"/>
            <a:ext cx="1097280" cy="777240"/>
          </a:xfrm>
          <a:prstGeom prst="line">
            <a:avLst/>
          </a:prstGeom>
          <a:noFill/>
          <a:ln w="25400">
            <a:solidFill>
              <a:srgbClr val="DCE6D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93976" y="2825496"/>
            <a:ext cx="-640080" cy="777240"/>
          </a:xfrm>
          <a:prstGeom prst="line">
            <a:avLst/>
          </a:prstGeom>
          <a:noFill/>
          <a:ln w="25400">
            <a:solidFill>
              <a:srgbClr val="DCE6D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93976" y="2825496"/>
            <a:ext cx="548640" cy="777240"/>
          </a:xfrm>
          <a:prstGeom prst="line">
            <a:avLst/>
          </a:prstGeom>
          <a:noFill/>
          <a:ln w="25400">
            <a:solidFill>
              <a:srgbClr val="DCE6D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642616" y="3602736"/>
            <a:ext cx="457200" cy="777240"/>
          </a:xfrm>
          <a:prstGeom prst="line">
            <a:avLst/>
          </a:prstGeom>
          <a:noFill/>
          <a:ln w="25400">
            <a:solidFill>
              <a:srgbClr val="DCE6D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54296" y="2825496"/>
            <a:ext cx="-548640" cy="777240"/>
          </a:xfrm>
          <a:prstGeom prst="line">
            <a:avLst/>
          </a:prstGeom>
          <a:noFill/>
          <a:ln w="25400">
            <a:solidFill>
              <a:srgbClr val="DCE6D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54296" y="2825496"/>
            <a:ext cx="548640" cy="777240"/>
          </a:xfrm>
          <a:prstGeom prst="line">
            <a:avLst/>
          </a:prstGeom>
          <a:noFill/>
          <a:ln w="25400">
            <a:solidFill>
              <a:srgbClr val="DCE6D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80160" y="3429000"/>
            <a:ext cx="347472" cy="347472"/>
          </a:xfrm>
          <a:prstGeom prst="ellipse">
            <a:avLst/>
          </a:prstGeom>
          <a:solidFill>
            <a:srgbClr val="E3B2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80160" y="34290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1920240" y="2651760"/>
            <a:ext cx="347472" cy="347472"/>
          </a:xfrm>
          <a:prstGeom prst="ellipse">
            <a:avLst/>
          </a:prstGeom>
          <a:solidFill>
            <a:srgbClr val="E3B2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920240" y="26517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468880" y="3429000"/>
            <a:ext cx="347472" cy="347472"/>
          </a:xfrm>
          <a:prstGeom prst="ellipse">
            <a:avLst/>
          </a:prstGeom>
          <a:solidFill>
            <a:srgbClr val="E3B2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468880" y="34290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926080" y="4206240"/>
            <a:ext cx="347472" cy="347472"/>
          </a:xfrm>
          <a:prstGeom prst="ellipse">
            <a:avLst/>
          </a:prstGeom>
          <a:solidFill>
            <a:srgbClr val="E3B2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926080" y="42062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383280" y="1874520"/>
            <a:ext cx="347472" cy="347472"/>
          </a:xfrm>
          <a:prstGeom prst="ellipse">
            <a:avLst/>
          </a:prstGeom>
          <a:solidFill>
            <a:srgbClr val="E3B2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83280" y="18745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931920" y="3429000"/>
            <a:ext cx="347472" cy="347472"/>
          </a:xfrm>
          <a:prstGeom prst="ellipse">
            <a:avLst/>
          </a:prstGeom>
          <a:solidFill>
            <a:srgbClr val="E3B2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931920" y="34290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480560" y="2651760"/>
            <a:ext cx="347472" cy="347472"/>
          </a:xfrm>
          <a:prstGeom prst="ellipse">
            <a:avLst/>
          </a:prstGeom>
          <a:solidFill>
            <a:srgbClr val="E3B2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480560" y="26517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029200" y="3429000"/>
            <a:ext cx="347472" cy="347472"/>
          </a:xfrm>
          <a:prstGeom prst="ellipse">
            <a:avLst/>
          </a:prstGeom>
          <a:solidFill>
            <a:srgbClr val="E3B2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0" y="34290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868680" y="52578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E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nodes · answers on the Answer Key slide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355080" y="1508760"/>
            <a:ext cx="5166360" cy="4114800"/>
          </a:xfrm>
          <a:prstGeom prst="roundRect">
            <a:avLst>
              <a:gd name="adj" fmla="val 2000"/>
            </a:avLst>
          </a:prstGeom>
          <a:solidFill>
            <a:srgbClr val="1B2E27"/>
          </a:solidFill>
          <a:ln/>
        </p:spPr>
      </p:sp>
      <p:sp>
        <p:nvSpPr>
          <p:cNvPr id="32" name="Text 30"/>
          <p:cNvSpPr/>
          <p:nvPr/>
        </p:nvSpPr>
        <p:spPr>
          <a:xfrm>
            <a:off x="6675120" y="173736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the: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6675120" y="2286000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88A47C"/>
          </a:solidFill>
          <a:ln/>
        </p:spPr>
      </p:sp>
      <p:sp>
        <p:nvSpPr>
          <p:cNvPr id="34" name="Text 32"/>
          <p:cNvSpPr/>
          <p:nvPr/>
        </p:nvSpPr>
        <p:spPr>
          <a:xfrm>
            <a:off x="6675120" y="2286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7223760" y="233172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Preorder Traversal</a:t>
            </a:r>
            <a:endParaRPr lang="en-US" sz="1350" dirty="0"/>
          </a:p>
        </p:txBody>
      </p:sp>
      <p:sp>
        <p:nvSpPr>
          <p:cNvPr id="36" name="Shape 34"/>
          <p:cNvSpPr/>
          <p:nvPr/>
        </p:nvSpPr>
        <p:spPr>
          <a:xfrm>
            <a:off x="6675120" y="2944368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88A47C"/>
          </a:solidFill>
          <a:ln/>
        </p:spPr>
      </p:sp>
      <p:sp>
        <p:nvSpPr>
          <p:cNvPr id="37" name="Text 35"/>
          <p:cNvSpPr/>
          <p:nvPr/>
        </p:nvSpPr>
        <p:spPr>
          <a:xfrm>
            <a:off x="6675120" y="2944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7223760" y="299008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Inorder Traversal</a:t>
            </a:r>
            <a:endParaRPr lang="en-US" sz="1350" dirty="0"/>
          </a:p>
        </p:txBody>
      </p:sp>
      <p:sp>
        <p:nvSpPr>
          <p:cNvPr id="39" name="Shape 37"/>
          <p:cNvSpPr/>
          <p:nvPr/>
        </p:nvSpPr>
        <p:spPr>
          <a:xfrm>
            <a:off x="6675120" y="3602736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88A47C"/>
          </a:solidFill>
          <a:ln/>
        </p:spPr>
      </p:sp>
      <p:sp>
        <p:nvSpPr>
          <p:cNvPr id="40" name="Text 38"/>
          <p:cNvSpPr/>
          <p:nvPr/>
        </p:nvSpPr>
        <p:spPr>
          <a:xfrm>
            <a:off x="6675120" y="36027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7223760" y="3648456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Postorder Traversal</a:t>
            </a:r>
            <a:endParaRPr lang="en-US" sz="1350" dirty="0"/>
          </a:p>
        </p:txBody>
      </p:sp>
      <p:sp>
        <p:nvSpPr>
          <p:cNvPr id="42" name="Shape 40"/>
          <p:cNvSpPr/>
          <p:nvPr/>
        </p:nvSpPr>
        <p:spPr>
          <a:xfrm>
            <a:off x="6675120" y="4261104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88A47C"/>
          </a:solidFill>
          <a:ln/>
        </p:spPr>
      </p:sp>
      <p:sp>
        <p:nvSpPr>
          <p:cNvPr id="43" name="Text 41"/>
          <p:cNvSpPr/>
          <p:nvPr/>
        </p:nvSpPr>
        <p:spPr>
          <a:xfrm>
            <a:off x="6675120" y="42611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7223760" y="4306824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Level-order Traversal</a:t>
            </a:r>
            <a:endParaRPr lang="en-US" sz="1350" dirty="0"/>
          </a:p>
        </p:txBody>
      </p:sp>
      <p:sp>
        <p:nvSpPr>
          <p:cNvPr id="45" name="Text 43"/>
          <p:cNvSpPr/>
          <p:nvPr/>
        </p:nvSpPr>
        <p:spPr>
          <a:xfrm>
            <a:off x="114757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 Key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E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five challenges, verified programmatically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08760"/>
          <a:ext cx="10881360" cy="4160520"/>
        </p:xfrm>
        <a:graphic>
          <a:graphicData uri="http://schemas.openxmlformats.org/drawingml/2006/table">
            <a:tbl>
              <a:tblPr/>
              <a:tblGrid>
                <a:gridCol w="1280160"/>
                <a:gridCol w="2606040"/>
                <a:gridCol w="2468880"/>
                <a:gridCol w="2468880"/>
                <a:gridCol w="2057400"/>
              </a:tblGrid>
              <a:tr h="6949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Challenge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E4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4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4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4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635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Preorder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E4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4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4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4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635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Inorder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E4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4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4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4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635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Postorder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E4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4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4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4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635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Level-order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E4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4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4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4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6351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E3B2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Easy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E4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4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4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4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6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CFE3D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1, 2, 4, 5, 3, 6, 7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E4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4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4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4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6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CFE3D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4, 2, 5, 1, 6, 3, 7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E4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4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4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4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6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CFE3D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4, 5, 2, 6, 7, 3, 1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E4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4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4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4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6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CFE3D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1, 2, 3, 4, 5, 6, 7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E4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4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4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4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629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E3B2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Medium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E4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4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4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4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92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CFE3D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8, 3, 1, 6, 4, 7, 10, 14, 13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E4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4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4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4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92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CFE3D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1, 3, 4, 6, 7, 8, 10, 13, 14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E4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4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4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4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92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CFE3D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1, 4, 7, 6, 3, 13, 14, 10, 8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E4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4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4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4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92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CFE3D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8, 3, 10, 1, 6, 14, 4, 7, 13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E4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4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4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4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92F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E3B2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Hard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E4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4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4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4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6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CFE3D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15, 7, 3, 1, 11, 9, 13, 20, 25, 22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E4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4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4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4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6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CFE3D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1, 3, 7, 9, 11, 13, 15, 20, 22, 25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E4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4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4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4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6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CFE3D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1, 3, 9, 13, 11, 7, 22, 25, 20, 15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E4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4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4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4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6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CFE3D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15, 7, 20, 3, 11, 25, 1, 9, 13, 22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E4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4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4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4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629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E3B2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Easy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E4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4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4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4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92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CFE3D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1, 2, 4, 3, 5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E4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4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4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4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92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CFE3D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2, 4, 1, 3, 5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E4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4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4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4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92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CFE3D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4, 2, 5, 3, 1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E4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4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4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4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92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CFE3D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1, 2, 3, 4, 5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E4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4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4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4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92F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E3B2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Medium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E4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4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4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4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6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CFE3D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6, 2, 1, 4, 5, 8, 7, 9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E4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4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4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4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6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CFE3D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1, 2, 4, 5, 6, 7, 8, 9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E4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4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4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4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6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CFE3D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1, 5, 4, 2, 7, 9, 8, 6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E4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4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4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4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6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CFE3D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6, 2, 8, 1, 4, 7, 9, 5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E4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4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4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4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629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58064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FE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Sequences verified with a short traversal script — see next slide for the verification note.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114757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5349240" cy="4389120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 w="12700">
            <a:solidFill>
              <a:srgbClr val="DCE6D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60020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63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2057400"/>
            <a:ext cx="48006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150" dirty="0">
                <a:solidFill>
                  <a:srgbClr val="1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Reviewed tools in two categories: step-by-step visualizers (VisuAlgo, Binary Tree Visualizer, USFCA) and auto-generators (LeetCode Tree Visualizer, Virtual Labs IIT-H).</a:t>
            </a:r>
            <a:endParaRPr lang="en-US" sz="1150" dirty="0"/>
          </a:p>
          <a:p>
            <a:pPr marL="342900" indent="-3429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150" dirty="0">
                <a:solidFill>
                  <a:srgbClr val="1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five original trees spanning Easy to Hard, including a perfect tree, an unbalanced tree, a lopsided BST, a LeetCode-decoded tree, and an auto-generated-style tree.</a:t>
            </a:r>
            <a:endParaRPr lang="en-US" sz="1150" dirty="0"/>
          </a:p>
          <a:p>
            <a:pPr marL="342900" indent="-3429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150" dirty="0">
                <a:solidFill>
                  <a:srgbClr val="1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Solved Preorder, Inorder, Postorder and Level-order for every tree and cross-checked every sequence with a short recursive/BFS script.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172200" y="1371600"/>
            <a:ext cx="5349240" cy="4389120"/>
          </a:xfrm>
          <a:prstGeom prst="roundRect">
            <a:avLst>
              <a:gd name="adj" fmla="val 2083"/>
            </a:avLst>
          </a:prstGeom>
          <a:solidFill>
            <a:srgbClr val="1B2E27"/>
          </a:solidFill>
          <a:ln/>
        </p:spPr>
      </p:sp>
      <p:sp>
        <p:nvSpPr>
          <p:cNvPr id="7" name="Text 5"/>
          <p:cNvSpPr/>
          <p:nvPr/>
        </p:nvSpPr>
        <p:spPr>
          <a:xfrm>
            <a:off x="6446520" y="160020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Note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46520" y="2057400"/>
            <a:ext cx="48006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FE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sequence in the Answer Key was generated by encoding each tree as a small object and running standard recursive preorder / inorder / postorder functions plus a BFS queue for level-order — not worked out by hand alone. This mirrors exactly what the interactive visualizer tools compute internally.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4757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2026-08-10T18:52:12Z</dcterms:created>
  <dcterms:modified xsi:type="dcterms:W3CDTF">2026-08-10T18:52:12Z</dcterms:modified>
</cp:coreProperties>
</file>