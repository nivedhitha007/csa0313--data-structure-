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02920"/>
            <a:ext cx="822960" cy="822960"/>
          </a:xfrm>
          <a:prstGeom prst="ellipse">
            <a:avLst/>
          </a:prstGeom>
          <a:solidFill>
            <a:srgbClr val="065A82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292840" y="1234440"/>
            <a:ext cx="457200" cy="457200"/>
          </a:xfrm>
          <a:prstGeom prst="ellipse">
            <a:avLst/>
          </a:prstGeom>
          <a:solidFill>
            <a:srgbClr val="1C7293">
              <a:alpha val="8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1554480"/>
            <a:ext cx="320040" cy="320040"/>
          </a:xfrm>
          <a:prstGeom prst="ellipse">
            <a:avLst/>
          </a:prstGeom>
          <a:solidFill>
            <a:srgbClr val="E8871E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5577840"/>
            <a:ext cx="640080" cy="640080"/>
          </a:xfrm>
          <a:prstGeom prst="ellipse">
            <a:avLst/>
          </a:prstGeom>
          <a:solidFill>
            <a:srgbClr val="1C7293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6080760"/>
            <a:ext cx="365760" cy="365760"/>
          </a:xfrm>
          <a:prstGeom prst="ellipse">
            <a:avLst/>
          </a:prstGeom>
          <a:solidFill>
            <a:srgbClr val="065A82">
              <a:alpha val="8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6309360"/>
            <a:ext cx="256032" cy="256032"/>
          </a:xfrm>
          <a:prstGeom prst="ellipse">
            <a:avLst/>
          </a:prstGeom>
          <a:solidFill>
            <a:srgbClr val="E8871E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CSA0313  ·  DATA STRUCTURE  ·  SLOT 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Tree Simulator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CO3_AT2 — Simulating tools for generating trees, plus an original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/ delete / traversal visualizer built from scratch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160520"/>
            <a:ext cx="4846320" cy="1600200"/>
          </a:xfrm>
          <a:prstGeom prst="roundRect">
            <a:avLst>
              <a:gd name="adj" fmla="val 6857"/>
            </a:avLst>
          </a:prstGeom>
          <a:solidFill>
            <a:srgbClr val="065A82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34340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Nivedhitha G (192521231)
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Shakila M
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 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9, 2026  |  100 points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assignment asks for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900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9DB4C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20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4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existing simulators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and study interactive tools that already generate and animate binary trees / BSTs / AVL trees.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9DB4C4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92024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40" dirty="0"/>
          </a:p>
        </p:txBody>
      </p:sp>
      <p:sp>
        <p:nvSpPr>
          <p:cNvPr id="12" name="Text 10"/>
          <p:cNvSpPr/>
          <p:nvPr/>
        </p:nvSpPr>
        <p:spPr>
          <a:xfrm>
            <a:off x="4709160" y="26060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20040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design an original tool or new operation on top of tree generation — not just reuse an existing one.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42900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  <a:effectLst>
            <a:outerShdw sx="100000" sy="100000" kx="0" ky="0" algn="bl" rotWithShape="0" blurRad="101600" dist="38100" dir="5400000">
              <a:srgbClr val="9DB4C4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1920240"/>
            <a:ext cx="548640" cy="54864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40" dirty="0"/>
          </a:p>
        </p:txBody>
      </p:sp>
      <p:sp>
        <p:nvSpPr>
          <p:cNvPr id="17" name="Text 15"/>
          <p:cNvSpPr/>
          <p:nvPr/>
        </p:nvSpPr>
        <p:spPr>
          <a:xfrm>
            <a:off x="8458200" y="26060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as a PPT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3200400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tool(s), how they work, and the underlying data-structure concepts in slide form.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70916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0B2545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70916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covers both: a survey of ready-made simulators, and a self-built interactive BST simulator with insert, delete, search and four traversal animations.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Interactive Tree Simulators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Ready-made tools surveyed for this assignment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70" dirty="0"/>
          </a:p>
        </p:txBody>
      </p:sp>
      <p:sp>
        <p:nvSpPr>
          <p:cNvPr id="7" name="Text 5"/>
          <p:cNvSpPr/>
          <p:nvPr/>
        </p:nvSpPr>
        <p:spPr>
          <a:xfrm>
            <a:off x="1600200" y="16733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VisuAlgo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00200" y="198424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animated Binary Search Trees and AVL trees where custom values can be inserted, watching each step-by-step operation.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8346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70" dirty="0"/>
          </a:p>
        </p:txBody>
      </p:sp>
      <p:sp>
        <p:nvSpPr>
          <p:cNvPr id="12" name="Text 10"/>
          <p:cNvSpPr/>
          <p:nvPr/>
        </p:nvSpPr>
        <p:spPr>
          <a:xfrm>
            <a:off x="1600200" y="27249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Tree Visualizer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00200" y="303580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hands-on building, searching, and sorting visualizations for tree and graph structures.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886200"/>
            <a:ext cx="502920" cy="50292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70" dirty="0"/>
          </a:p>
        </p:txBody>
      </p:sp>
      <p:sp>
        <p:nvSpPr>
          <p:cNvPr id="17" name="Text 15"/>
          <p:cNvSpPr/>
          <p:nvPr/>
        </p:nvSpPr>
        <p:spPr>
          <a:xfrm>
            <a:off x="1600200" y="37764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Tree Visualizer &amp; Converter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00200" y="40873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input node lists and trace traversal orders visually against the generated drawing.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7548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9377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70" dirty="0"/>
          </a:p>
        </p:txBody>
      </p:sp>
      <p:sp>
        <p:nvSpPr>
          <p:cNvPr id="22" name="Text 20"/>
          <p:cNvSpPr/>
          <p:nvPr/>
        </p:nvSpPr>
        <p:spPr>
          <a:xfrm>
            <a:off x="1600200" y="48280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Labs IIITH — Tree Traversal Practice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600200" y="513892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interactive practice module for clicking through nodes in the correct traversal order.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Innovation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self-built Interactive BST Simulator — built from scratch, no external libraries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6309360" cy="4206240"/>
          </a:xfrm>
          <a:prstGeom prst="roundRect">
            <a:avLst>
              <a:gd name="adj" fmla="val 2174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build a new one?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5760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existing tools are read-only demos — you can't watch every step of delete() with two-child rollover.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tool animates insert, delete, search AND four traversal orders (inorder / preorder / postorder / level-order) node by node.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animation speed and a random-tree generator make it usable as a live teaching aid.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single self-contained HTML file — no install, no internet needed.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23760" y="1554480"/>
            <a:ext cx="4297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7452360" y="1810512"/>
            <a:ext cx="420624" cy="42062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9" name="Text 7"/>
          <p:cNvSpPr/>
          <p:nvPr/>
        </p:nvSpPr>
        <p:spPr>
          <a:xfrm>
            <a:off x="745236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564" dirty="0"/>
          </a:p>
        </p:txBody>
      </p:sp>
      <p:sp>
        <p:nvSpPr>
          <p:cNvPr id="10" name="Text 8"/>
          <p:cNvSpPr/>
          <p:nvPr/>
        </p:nvSpPr>
        <p:spPr>
          <a:xfrm>
            <a:off x="8046720" y="16824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SVG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6720" y="20299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live tree rendering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23760" y="2624328"/>
            <a:ext cx="4297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452360" y="288036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45236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564" dirty="0"/>
          </a:p>
        </p:txBody>
      </p:sp>
      <p:sp>
        <p:nvSpPr>
          <p:cNvPr id="15" name="Text 13"/>
          <p:cNvSpPr/>
          <p:nvPr/>
        </p:nvSpPr>
        <p:spPr>
          <a:xfrm>
            <a:off x="8046720" y="275234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046720" y="309981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BST logic, layout &amp; animation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23760" y="3694176"/>
            <a:ext cx="4297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452360" y="3950208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7452360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64" dirty="0"/>
          </a:p>
        </p:txBody>
      </p:sp>
      <p:sp>
        <p:nvSpPr>
          <p:cNvPr id="20" name="Text 18"/>
          <p:cNvSpPr/>
          <p:nvPr/>
        </p:nvSpPr>
        <p:spPr>
          <a:xfrm>
            <a:off x="8046720" y="38221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046720" y="416966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UI theme, transitions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23760" y="4764024"/>
            <a:ext cx="4297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452360" y="5020056"/>
            <a:ext cx="420624" cy="42062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24" name="Text 22"/>
          <p:cNvSpPr/>
          <p:nvPr/>
        </p:nvSpPr>
        <p:spPr>
          <a:xfrm>
            <a:off x="7452360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564" dirty="0"/>
          </a:p>
        </p:txBody>
      </p:sp>
      <p:sp>
        <p:nvSpPr>
          <p:cNvPr id="25" name="Text 23"/>
          <p:cNvSpPr/>
          <p:nvPr/>
        </p:nvSpPr>
        <p:spPr>
          <a:xfrm>
            <a:off x="8046720" y="4892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dependencies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046720" y="52395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directly in any browser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Simulator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tool lets a user do, live in the browser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0215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1801368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value; the new node flashes blue as it lands in its BST position.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600200"/>
            <a:ext cx="350215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82880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148072" y="1801368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53712" y="237744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a node, correctly handling leaf, one-child and two-child (successor) cases.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0144" y="1600200"/>
            <a:ext cx="350215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38744" y="18288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3874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833104" y="1801368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38744" y="237744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the path taken from root to target, visiting node by node.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337560"/>
            <a:ext cx="350215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35661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63040" y="3538728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Traversals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411480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Inorder, Preorder, Postorder, Level-order — each animated with a live sequence readout.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25112" y="3337560"/>
            <a:ext cx="350215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3712" y="3566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148072" y="3538728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Control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53712" y="411480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to slow down or speed up every animation for teaching or self-study.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10144" y="3337560"/>
            <a:ext cx="3502152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38744" y="3566160"/>
            <a:ext cx="457200" cy="45720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1" name="Text 29"/>
          <p:cNvSpPr/>
          <p:nvPr/>
        </p:nvSpPr>
        <p:spPr>
          <a:xfrm>
            <a:off x="8238744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833104" y="3538728"/>
            <a:ext cx="2496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Tree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38744" y="4114800"/>
            <a:ext cx="3044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random 7-node BST instantly to explore structure and balance.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Insertion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comparison walks down the tree until a null spot is found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01568" y="2121408"/>
            <a:ext cx="-822960" cy="685800"/>
          </a:xfrm>
          <a:prstGeom prst="line">
            <a:avLst/>
          </a:prstGeom>
          <a:noFill/>
          <a:ln w="25400">
            <a:solidFill>
              <a:srgbClr val="DC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01568" y="2121408"/>
            <a:ext cx="822960" cy="685800"/>
          </a:xfrm>
          <a:prstGeom prst="line">
            <a:avLst/>
          </a:prstGeom>
          <a:noFill/>
          <a:ln w="25400">
            <a:solidFill>
              <a:srgbClr val="DCE6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78608" y="2807208"/>
            <a:ext cx="-411480" cy="685800"/>
          </a:xfrm>
          <a:prstGeom prst="line">
            <a:avLst/>
          </a:prstGeom>
          <a:noFill/>
          <a:ln w="25400">
            <a:solidFill>
              <a:srgbClr val="DC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78608" y="2807208"/>
            <a:ext cx="411480" cy="685800"/>
          </a:xfrm>
          <a:prstGeom prst="line">
            <a:avLst/>
          </a:prstGeom>
          <a:noFill/>
          <a:ln w="25400">
            <a:solidFill>
              <a:srgbClr val="DCE6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65960" y="3291840"/>
            <a:ext cx="411480" cy="41148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77440" y="2606040"/>
            <a:ext cx="411480" cy="41148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88920" y="3291840"/>
            <a:ext cx="411480" cy="41148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920240"/>
            <a:ext cx="411480" cy="41148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0" y="2606040"/>
            <a:ext cx="411480" cy="41148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7947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inserting 40 → 50 → left → 30 → right → 40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1508760"/>
            <a:ext cx="5532120" cy="2743200"/>
          </a:xfrm>
          <a:prstGeom prst="roundRect">
            <a:avLst>
              <a:gd name="adj" fmla="val 2667"/>
            </a:avLst>
          </a:prstGeom>
          <a:solidFill>
            <a:srgbClr val="0B2545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645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(pseudocode)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63640" y="201168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insert(node, val):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node is null: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 Node(val)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val &lt; node.val: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node.left = insert(node.left, val)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val &gt; node.val: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node.right = insert(node.right, val)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node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4348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6177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complexity: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O(h), where h = tree height  →  O(log n) balanced, O(n) worst case (skewed)
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complexity: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O(h) for the recursion stack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Deletion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cases, handled recursively in the simulator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02152" cy="416052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37360"/>
            <a:ext cx="3044952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— Leaf Node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391156" y="2423160"/>
            <a:ext cx="365760" cy="36576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91156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457200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has no children → simply remove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25112" y="1508760"/>
            <a:ext cx="3502152" cy="416052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53712" y="1737360"/>
            <a:ext cx="3044952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73736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 — One Child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59068" y="2606040"/>
            <a:ext cx="0" cy="777240"/>
          </a:xfrm>
          <a:prstGeom prst="line">
            <a:avLst/>
          </a:prstGeom>
          <a:noFill/>
          <a:ln w="25400">
            <a:solidFill>
              <a:srgbClr val="DCE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76188" y="2423160"/>
            <a:ext cx="365760" cy="36576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76188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76188" y="3200400"/>
            <a:ext cx="365760" cy="36576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76188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99432" y="457200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has one child → replace node with that child.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10144" y="1508760"/>
            <a:ext cx="3502152" cy="4160520"/>
          </a:xfrm>
          <a:prstGeom prst="roundRect">
            <a:avLst>
              <a:gd name="adj" fmla="val 2350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38744" y="1737360"/>
            <a:ext cx="3044952" cy="457200"/>
          </a:xfrm>
          <a:prstGeom prst="roundRect">
            <a:avLst>
              <a:gd name="adj" fmla="val 12000"/>
            </a:avLst>
          </a:prstGeom>
          <a:solidFill>
            <a:srgbClr val="E8871E"/>
          </a:solidFill>
          <a:ln/>
        </p:spPr>
      </p:sp>
      <p:sp>
        <p:nvSpPr>
          <p:cNvPr id="21" name="Text 19"/>
          <p:cNvSpPr/>
          <p:nvPr/>
        </p:nvSpPr>
        <p:spPr>
          <a:xfrm>
            <a:off x="8238744" y="173736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 — Two Children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944100" y="2606040"/>
            <a:ext cx="-502920" cy="777240"/>
          </a:xfrm>
          <a:prstGeom prst="line">
            <a:avLst/>
          </a:prstGeom>
          <a:noFill/>
          <a:ln w="25400">
            <a:solidFill>
              <a:srgbClr val="DCE6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44100" y="2606040"/>
            <a:ext cx="502920" cy="777240"/>
          </a:xfrm>
          <a:prstGeom prst="line">
            <a:avLst/>
          </a:prstGeom>
          <a:noFill/>
          <a:ln w="25400">
            <a:solidFill>
              <a:srgbClr val="DCE6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47020" y="3383280"/>
            <a:ext cx="-274320" cy="777240"/>
          </a:xfrm>
          <a:prstGeom prst="line">
            <a:avLst/>
          </a:prstGeom>
          <a:noFill/>
          <a:ln w="25400">
            <a:solidFill>
              <a:srgbClr val="DCE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58300" y="3200400"/>
            <a:ext cx="365760" cy="36576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583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761220" y="2423160"/>
            <a:ext cx="365760" cy="36576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6122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989820" y="3977640"/>
            <a:ext cx="365760" cy="36576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8982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264140" y="3200400"/>
            <a:ext cx="365760" cy="365760"/>
          </a:xfrm>
          <a:prstGeom prst="ellipse">
            <a:avLst/>
          </a:prstGeom>
          <a:solidFill>
            <a:srgbClr val="E8871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641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84464" y="457200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inorder successor (min of right subtree), then delete successor.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Traversal Orders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tree, four different visiting sequences — all animated live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27248" y="2212848"/>
            <a:ext cx="-777240" cy="868680"/>
          </a:xfrm>
          <a:prstGeom prst="line">
            <a:avLst/>
          </a:prstGeom>
          <a:noFill/>
          <a:ln w="25400">
            <a:solidFill>
              <a:srgbClr val="DCE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27248" y="2212848"/>
            <a:ext cx="777240" cy="868680"/>
          </a:xfrm>
          <a:prstGeom prst="line">
            <a:avLst/>
          </a:prstGeom>
          <a:noFill/>
          <a:ln w="25400">
            <a:solidFill>
              <a:srgbClr val="DCE6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0008" y="3081528"/>
            <a:ext cx="-457200" cy="868680"/>
          </a:xfrm>
          <a:prstGeom prst="line">
            <a:avLst/>
          </a:prstGeom>
          <a:noFill/>
          <a:ln w="25400">
            <a:solidFill>
              <a:srgbClr val="DCE6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50008" y="3081528"/>
            <a:ext cx="457200" cy="868680"/>
          </a:xfrm>
          <a:prstGeom prst="line">
            <a:avLst/>
          </a:prstGeom>
          <a:noFill/>
          <a:ln w="25400">
            <a:solidFill>
              <a:srgbClr val="DCE6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3749040"/>
            <a:ext cx="411480" cy="41148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48840" y="2880360"/>
            <a:ext cx="411480" cy="41148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3749040"/>
            <a:ext cx="411480" cy="41148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0" y="2011680"/>
            <a:ext cx="411480" cy="41148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03320" y="2880360"/>
            <a:ext cx="411480" cy="41148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1508760"/>
            <a:ext cx="57607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1682496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5989320" y="1682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6583680" y="1600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Inorder (L·Root·R)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→ 30 → 40 → 50 → 70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60720" y="2542032"/>
            <a:ext cx="57607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2715768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2715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30" dirty="0"/>
          </a:p>
        </p:txBody>
      </p:sp>
      <p:sp>
        <p:nvSpPr>
          <p:cNvPr id="27" name="Text 25"/>
          <p:cNvSpPr/>
          <p:nvPr/>
        </p:nvSpPr>
        <p:spPr>
          <a:xfrm>
            <a:off x="6583680" y="26334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Preorder (Root·L·R)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0" y="2953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→ 30 → 20 → 40 → 70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760720" y="3575304"/>
            <a:ext cx="57607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89320" y="3749040"/>
            <a:ext cx="411480" cy="411480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31" name="Text 29"/>
          <p:cNvSpPr/>
          <p:nvPr/>
        </p:nvSpPr>
        <p:spPr>
          <a:xfrm>
            <a:off x="598932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30" dirty="0"/>
          </a:p>
        </p:txBody>
      </p:sp>
      <p:sp>
        <p:nvSpPr>
          <p:cNvPr id="32" name="Text 30"/>
          <p:cNvSpPr/>
          <p:nvPr/>
        </p:nvSpPr>
        <p:spPr>
          <a:xfrm>
            <a:off x="6583680" y="366674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Postorder (L·R·Root)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583680" y="39867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→ 40 → 30 → 70 → 50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60720" y="4608576"/>
            <a:ext cx="57607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CE6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89320" y="4782312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5989320" y="4782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530" dirty="0"/>
          </a:p>
        </p:txBody>
      </p:sp>
      <p:sp>
        <p:nvSpPr>
          <p:cNvPr id="37" name="Text 35"/>
          <p:cNvSpPr/>
          <p:nvPr/>
        </p:nvSpPr>
        <p:spPr>
          <a:xfrm>
            <a:off x="6583680" y="470001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Level-order (BFS)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583680" y="50200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1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→ 30 → 70 → 20 → 40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&amp;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summary and how the simulator is structured internally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539496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55448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Case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Traversal (all 4 types)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7033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number of nodes. Worst case occurs on a skewed (unbalanced) tree, e.g. inserting sorted data.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3550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Pipeline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55080" y="201168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635508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28" dirty="0"/>
          </a:p>
        </p:txBody>
      </p:sp>
      <p:sp>
        <p:nvSpPr>
          <p:cNvPr id="9" name="Text 6"/>
          <p:cNvSpPr/>
          <p:nvPr/>
        </p:nvSpPr>
        <p:spPr>
          <a:xfrm>
            <a:off x="6903720" y="1984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Core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903720" y="22402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insert / delete / search logic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355080" y="276148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6355080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28" dirty="0"/>
          </a:p>
        </p:txBody>
      </p:sp>
      <p:sp>
        <p:nvSpPr>
          <p:cNvPr id="13" name="Text 10"/>
          <p:cNvSpPr/>
          <p:nvPr/>
        </p:nvSpPr>
        <p:spPr>
          <a:xfrm>
            <a:off x="6903720" y="27340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Engine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903720" y="29900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pass assigns x, y pixel coords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355080" y="3511296"/>
            <a:ext cx="384048" cy="384048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6" name="Text 13"/>
          <p:cNvSpPr/>
          <p:nvPr/>
        </p:nvSpPr>
        <p:spPr>
          <a:xfrm>
            <a:off x="635508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28" dirty="0"/>
          </a:p>
        </p:txBody>
      </p:sp>
      <p:sp>
        <p:nvSpPr>
          <p:cNvPr id="17" name="Text 14"/>
          <p:cNvSpPr/>
          <p:nvPr/>
        </p:nvSpPr>
        <p:spPr>
          <a:xfrm>
            <a:off x="6903720" y="348386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Renderer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903720" y="373989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Redraws circles + lines from tree state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355080" y="426110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7"/>
          <p:cNvSpPr/>
          <p:nvPr/>
        </p:nvSpPr>
        <p:spPr>
          <a:xfrm>
            <a:off x="6355080" y="4261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28" dirty="0"/>
          </a:p>
        </p:txBody>
      </p:sp>
      <p:sp>
        <p:nvSpPr>
          <p:cNvPr id="21" name="Text 18"/>
          <p:cNvSpPr/>
          <p:nvPr/>
        </p:nvSpPr>
        <p:spPr>
          <a:xfrm>
            <a:off x="6903720" y="42336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Animator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903720" y="448970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through nodes with await + delay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Live Tool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309360" cy="4389120"/>
          </a:xfrm>
          <a:prstGeom prst="roundRect">
            <a:avLst>
              <a:gd name="adj" fmla="val 2083"/>
            </a:avLst>
          </a:prstGeom>
          <a:solidFill>
            <a:srgbClr val="065A82">
              <a:alpha val="2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00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5760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 four ready-made interactive tree simulators (VisuAlgo, BST Visualizer, Tree Visualizer &amp; Converter, Virtual Labs IIITH).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original single-file HTML/JS/SVG BST simulator supporting insert, delete, search and 4 animated traversals.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the recursive algorithms, complexity, and internal rendering pipeline behind every operation.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223760" y="1371600"/>
            <a:ext cx="4297680" cy="438912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0" y="1600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217152" y="2496312"/>
            <a:ext cx="-502920" cy="594360"/>
          </a:xfrm>
          <a:prstGeom prst="line">
            <a:avLst/>
          </a:prstGeom>
          <a:noFill/>
          <a:ln w="25400">
            <a:solidFill>
              <a:srgbClr val="DCE6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17152" y="2496312"/>
            <a:ext cx="502920" cy="594360"/>
          </a:xfrm>
          <a:prstGeom prst="line">
            <a:avLst/>
          </a:prstGeom>
          <a:noFill/>
          <a:ln w="25400">
            <a:solidFill>
              <a:srgbClr val="DC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49640" y="2926080"/>
            <a:ext cx="329184" cy="329184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4964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052560" y="2331720"/>
            <a:ext cx="329184" cy="329184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0" y="2331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555480" y="2926080"/>
            <a:ext cx="329184" cy="329184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55480" y="2926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98080" y="35204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Interactive_Tree_Simulator.html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0" y="38862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· Delete · Search · Traverse — live in your browser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0" y="44805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file: Interactive_Tree_Simulator.html — open directly in any browser, no setup required.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2026-08-10T18:40:52Z</dcterms:created>
  <dcterms:modified xsi:type="dcterms:W3CDTF">2026-08-10T18:40:52Z</dcterms:modified>
</cp:coreProperties>
</file>